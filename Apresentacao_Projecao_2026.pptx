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C030"/>
          </a:solidFill>
          <a:ln>
            <a:solidFill>
              <a:srgbClr val="F0C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3A5BA0"/>
          </a:solidFill>
          <a:ln>
            <a:solidFill>
              <a:srgbClr val="3A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6430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RELATORIO DE PROJECAO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116430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C030"/>
                </a:solidFill>
                <a:latin typeface="Arial"/>
              </a:defRPr>
            </a:pPr>
            <a:r>
              <a:t>FATURAMENTO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46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Arial"/>
              </a:defRPr>
            </a:pPr>
            <a:r>
              <a:t>Analise de desempenho e projecao anual com base nos dados realizados de Jan-Fev/2026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Elaborado em 19/02/2026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DF8"/>
          </a:solidFill>
          <a:ln>
            <a:solidFill>
              <a:srgbClr val="E8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C030"/>
          </a:solidFill>
          <a:ln>
            <a:solidFill>
              <a:srgbClr val="F0C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9601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20040"/>
            <a:ext cx="1173449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INDICADORES CHAVE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508760"/>
            <a:ext cx="2651760" cy="1554480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60020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Total Realizado</a:t>
            </a:r>
            <a:br/>
            <a:r>
              <a:t>(Jan-Fev)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84248"/>
            <a:ext cx="24688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C030"/>
                </a:solidFill>
                <a:latin typeface="Arial"/>
              </a:defRPr>
            </a:pPr>
            <a:r>
              <a:t>R$ 774k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508760"/>
            <a:ext cx="2651760" cy="1554480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0020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Projecao</a:t>
            </a:r>
            <a:br/>
            <a:r>
              <a:t>Anual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984248"/>
            <a:ext cx="24688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C030"/>
                </a:solidFill>
                <a:latin typeface="Arial"/>
              </a:defRPr>
            </a:pPr>
            <a:r>
              <a:t>R$ 6694k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508760"/>
            <a:ext cx="2651760" cy="1554480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9" y="160020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Media Mensal</a:t>
            </a:r>
            <a:br/>
            <a:r>
              <a:t>Projetada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1984248"/>
            <a:ext cx="24688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C030"/>
                </a:solidFill>
                <a:latin typeface="Arial"/>
              </a:defRPr>
            </a:pPr>
            <a:r>
              <a:t>R$ 558k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508760"/>
            <a:ext cx="2651760" cy="1554480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1600200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Meses</a:t>
            </a:r>
            <a:br/>
            <a:r>
              <a:t>Projetados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984248"/>
            <a:ext cx="24688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C030"/>
                </a:solidFill>
                <a:latin typeface="Arial"/>
              </a:defRPr>
            </a:pPr>
            <a:r>
              <a:t>10 meses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91840"/>
            <a:ext cx="11521440" cy="54864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474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A5BA0"/>
                </a:solidFill>
                <a:latin typeface="Arial"/>
              </a:defRPr>
            </a:pPr>
            <a:r>
              <a:t>Crescimento projetado nos ultimos 4 meses do ano com media diaria de R$ 18,062 | Dados reais ate 16/02/2026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DF8"/>
          </a:solidFill>
          <a:ln>
            <a:solidFill>
              <a:srgbClr val="E8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C030"/>
          </a:solidFill>
          <a:ln>
            <a:solidFill>
              <a:srgbClr val="F0C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10058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29184"/>
            <a:ext cx="117344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PROJECAO MENSAL DE FATURAMENTO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243584"/>
            <a:ext cx="11734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5BA0"/>
                </a:solidFill>
                <a:latin typeface="Arial"/>
              </a:defRPr>
            </a:pPr>
            <a:r>
              <a:t>Combinacao de dados realizados (Jan-Fev) e projecao com fator sazonal (Mar-Dez)</a:t>
            </a:r>
          </a:p>
        </p:txBody>
      </p:sp>
      <p:pic>
        <p:nvPicPr>
          <p:cNvPr id="7" name="Picture 6" descr="pptx_g1_bar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115214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DF8"/>
          </a:solidFill>
          <a:ln>
            <a:solidFill>
              <a:srgbClr val="E8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C030"/>
          </a:solidFill>
          <a:ln>
            <a:solidFill>
              <a:srgbClr val="F0C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10058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29184"/>
            <a:ext cx="117344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FATURAMENTO ACUMULADO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243584"/>
            <a:ext cx="11734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5BA0"/>
                </a:solidFill>
                <a:latin typeface="Arial"/>
              </a:defRPr>
            </a:pPr>
            <a:r>
              <a:t>Projecao de encerramento do ano: R$ 6694k</a:t>
            </a:r>
          </a:p>
        </p:txBody>
      </p:sp>
      <p:pic>
        <p:nvPicPr>
          <p:cNvPr id="7" name="Picture 6" descr="pptx_g2_acumu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115214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DF8"/>
          </a:solidFill>
          <a:ln>
            <a:solidFill>
              <a:srgbClr val="E8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C030"/>
          </a:solidFill>
          <a:ln>
            <a:solidFill>
              <a:srgbClr val="F0C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10058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29184"/>
            <a:ext cx="117344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DISTRIBUICAO TRIMESTRAL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243584"/>
            <a:ext cx="11734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5BA0"/>
                </a:solidFill>
                <a:latin typeface="Arial"/>
              </a:defRPr>
            </a:pPr>
            <a:r>
              <a:t>Participacao de cada trimestre na projecao anual</a:t>
            </a:r>
          </a:p>
        </p:txBody>
      </p:sp>
      <p:pic>
        <p:nvPicPr>
          <p:cNvPr id="7" name="Picture 6" descr="pptx_g3_trimes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DF8"/>
          </a:solidFill>
          <a:ln>
            <a:solidFill>
              <a:srgbClr val="E8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C030"/>
          </a:solidFill>
          <a:ln>
            <a:solidFill>
              <a:srgbClr val="F0C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10058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29184"/>
            <a:ext cx="117344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HISTORICO DE FATURAMENTO DIARIO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243584"/>
            <a:ext cx="11734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5BA0"/>
                </a:solidFill>
                <a:latin typeface="Arial"/>
              </a:defRPr>
            </a:pPr>
            <a:r>
              <a:t>Dados realizados de Janeiro a 16 de Fevereiro de 2026</a:t>
            </a:r>
          </a:p>
        </p:txBody>
      </p:sp>
      <p:pic>
        <p:nvPicPr>
          <p:cNvPr id="7" name="Picture 6" descr="pptx_g4_di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5880"/>
            <a:ext cx="11521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DF8"/>
          </a:solidFill>
          <a:ln>
            <a:solidFill>
              <a:srgbClr val="E8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C030"/>
          </a:solidFill>
          <a:ln>
            <a:solidFill>
              <a:srgbClr val="F0C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10058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29184"/>
            <a:ext cx="117344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TABELA DE PROJECAO MENSAL DETALHADA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89888"/>
            <a:ext cx="1554480" cy="384048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1463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389888"/>
            <a:ext cx="2011680" cy="384048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41732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389888"/>
            <a:ext cx="2194560" cy="384048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141732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Real (R$)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89888"/>
            <a:ext cx="2194560" cy="384048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Projecao (R$)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389888"/>
            <a:ext cx="1828800" cy="384048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41732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Acumulado (R$)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0" y="1389888"/>
            <a:ext cx="1463040" cy="384048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61320" y="141732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vs Media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847088"/>
            <a:ext cx="155448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874519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Janeiro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1847088"/>
            <a:ext cx="201168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187451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Realizado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1847088"/>
            <a:ext cx="219456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187451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R$ 525k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847088"/>
            <a:ext cx="219456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87451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R$ 525k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1847088"/>
            <a:ext cx="182880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R$ 525k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0" y="1847088"/>
            <a:ext cx="146304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61320" y="18745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-6.0%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194560"/>
            <a:ext cx="155448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221991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Fevereiro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2194560"/>
            <a:ext cx="201168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5960" y="222199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Parcial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2194560"/>
            <a:ext cx="219456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9080" y="2221991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R$ 250k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194560"/>
            <a:ext cx="219456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221991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R$ 538k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2194560"/>
            <a:ext cx="182880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1080" y="222199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R$ 1062k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0" y="2194560"/>
            <a:ext cx="146304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61320" y="222199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-3.6%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542032"/>
            <a:ext cx="155448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2569464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Marco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20240" y="2542032"/>
            <a:ext cx="201168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65960" y="25694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Projetado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23360" y="2542032"/>
            <a:ext cx="219456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9080" y="25694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2542032"/>
            <a:ext cx="219456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25694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R$ 560k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2542032"/>
            <a:ext cx="182880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41080" y="25694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R$ 1622k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15600" y="2542032"/>
            <a:ext cx="146304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61320" y="25694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+0.4%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889504"/>
            <a:ext cx="155448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2916936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Abril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20240" y="2889504"/>
            <a:ext cx="201168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65960" y="29169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Projetado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23360" y="2889504"/>
            <a:ext cx="219456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69080" y="29169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2889504"/>
            <a:ext cx="219456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29169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R$ 531k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0" y="2889504"/>
            <a:ext cx="182880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41080" y="29169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R$ 2153k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15600" y="2889504"/>
            <a:ext cx="146304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6132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-4.8%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3236976"/>
            <a:ext cx="155448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" y="3264408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Maio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20240" y="3236976"/>
            <a:ext cx="201168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965960" y="32644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Projetado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23360" y="3236976"/>
            <a:ext cx="219456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69080" y="32644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3236976"/>
            <a:ext cx="219456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55080" y="32644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R$ 571k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95360" y="3236976"/>
            <a:ext cx="182880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41080" y="32644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R$ 2724k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15600" y="3236976"/>
            <a:ext cx="146304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561320" y="3264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+2.4%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3584448"/>
            <a:ext cx="155448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0040" y="3611879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Junho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20240" y="3584448"/>
            <a:ext cx="201168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965960" y="361187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Projetado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23360" y="3584448"/>
            <a:ext cx="219456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69080" y="361187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09360" y="3584448"/>
            <a:ext cx="219456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55080" y="361187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R$ 526k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95360" y="3584448"/>
            <a:ext cx="182880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41080" y="361187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R$ 3250k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15600" y="3584448"/>
            <a:ext cx="146304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61320" y="36118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-5.8%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3931920"/>
            <a:ext cx="155448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0040" y="3959352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Julho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20240" y="3931920"/>
            <a:ext cx="201168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65960" y="39593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Projetado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023360" y="3931920"/>
            <a:ext cx="219456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69080" y="39593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09360" y="3931920"/>
            <a:ext cx="219456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55080" y="39593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R$ 538k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595360" y="3931920"/>
            <a:ext cx="182880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641080" y="3959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R$ 3787k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515600" y="3931920"/>
            <a:ext cx="146304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561320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-3.6%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4320" y="4279392"/>
            <a:ext cx="155448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20040" y="4306824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Agosto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20240" y="4279392"/>
            <a:ext cx="201168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965960" y="43068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Projetado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023360" y="4279392"/>
            <a:ext cx="219456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069080" y="43068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309360" y="4279392"/>
            <a:ext cx="219456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355080" y="43068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R$ 560k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595360" y="4279392"/>
            <a:ext cx="182880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641080" y="43068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R$ 4347k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515600" y="4279392"/>
            <a:ext cx="146304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561320" y="4306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+0.4%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4320" y="4626864"/>
            <a:ext cx="155448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20040" y="4654296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Setembro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920240" y="4626864"/>
            <a:ext cx="201168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965960" y="46542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Projetado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023360" y="4626864"/>
            <a:ext cx="219456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069080" y="46542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309360" y="4626864"/>
            <a:ext cx="219456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80" y="46542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R$ 558k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595360" y="4626864"/>
            <a:ext cx="182880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641080" y="46542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R$ 4905k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515600" y="4626864"/>
            <a:ext cx="146304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561320" y="46542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+0.0%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4320" y="4974336"/>
            <a:ext cx="155448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20040" y="5001768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Outubro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920240" y="4974336"/>
            <a:ext cx="201168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965960" y="50017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Projetado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023360" y="4974336"/>
            <a:ext cx="219456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069080" y="50017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309360" y="4974336"/>
            <a:ext cx="219456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355080" y="50017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R$ 588k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595360" y="4974336"/>
            <a:ext cx="182880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641080" y="5001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R$ 5493k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515600" y="4974336"/>
            <a:ext cx="146304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561320" y="50017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+5.4%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" y="5321808"/>
            <a:ext cx="155448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20040" y="534924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Novembro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920240" y="5321808"/>
            <a:ext cx="201168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965960" y="5349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Projetado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023360" y="5321808"/>
            <a:ext cx="219456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069080" y="5349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309360" y="5321808"/>
            <a:ext cx="219456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355080" y="5349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R$ 585k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595360" y="5321808"/>
            <a:ext cx="182880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641080" y="5349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R$ 6079k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515600" y="5321808"/>
            <a:ext cx="1463040" cy="329184"/>
          </a:xfrm>
          <a:prstGeom prst="rect">
            <a:avLst/>
          </a:prstGeom>
          <a:solidFill>
            <a:srgbClr val="E8EDF8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56132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+4.9%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74320" y="5669279"/>
            <a:ext cx="155448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20040" y="5696712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Dezembro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920240" y="5669279"/>
            <a:ext cx="201168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965960" y="56967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Projetado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023360" y="5669279"/>
            <a:ext cx="219456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069080" y="56967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309360" y="5669279"/>
            <a:ext cx="219456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355080" y="56967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R$ 616k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595360" y="5669279"/>
            <a:ext cx="182880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641080" y="5696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R$ 6694k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515600" y="5669279"/>
            <a:ext cx="1463040" cy="329184"/>
          </a:xfrm>
          <a:prstGeom prst="rect">
            <a:avLst/>
          </a:prstGeom>
          <a:solidFill>
            <a:srgbClr val="DDE4F0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561320" y="5696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Arial"/>
              </a:defRPr>
            </a:pPr>
            <a:r>
              <a:t>+10.4%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74320" y="6016752"/>
            <a:ext cx="1554480" cy="347472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20040" y="6053328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C030"/>
                </a:solidFill>
                <a:latin typeface="Arial"/>
              </a:defRPr>
            </a:pPr>
            <a:r>
              <a:t>TOTAL ANUAL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920240" y="6016752"/>
            <a:ext cx="2011680" cy="347472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965960" y="60533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C030"/>
                </a:solidFill>
                <a:latin typeface="Arial"/>
              </a:defRPr>
            </a:pPr>
          </a:p>
        </p:txBody>
      </p:sp>
      <p:sp>
        <p:nvSpPr>
          <p:cNvPr id="166" name="Rectangle 165"/>
          <p:cNvSpPr/>
          <p:nvPr/>
        </p:nvSpPr>
        <p:spPr>
          <a:xfrm>
            <a:off x="4023360" y="6016752"/>
            <a:ext cx="2194560" cy="347472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069080" y="6053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C030"/>
                </a:solidFill>
                <a:latin typeface="Arial"/>
              </a:defRPr>
            </a:pPr>
          </a:p>
        </p:txBody>
      </p:sp>
      <p:sp>
        <p:nvSpPr>
          <p:cNvPr id="168" name="Rectangle 167"/>
          <p:cNvSpPr/>
          <p:nvPr/>
        </p:nvSpPr>
        <p:spPr>
          <a:xfrm>
            <a:off x="6309360" y="6016752"/>
            <a:ext cx="2194560" cy="347472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355080" y="6053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C030"/>
                </a:solidFill>
                <a:latin typeface="Arial"/>
              </a:defRPr>
            </a:pPr>
            <a:r>
              <a:t>R$ 6694k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595360" y="6016752"/>
            <a:ext cx="1828800" cy="347472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641080" y="60533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C030"/>
                </a:solidFill>
                <a:latin typeface="Arial"/>
              </a:defRPr>
            </a:pPr>
            <a:r>
              <a:t>R$ 6694k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515600" y="6016752"/>
            <a:ext cx="1463040" cy="347472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0561320" y="6053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C030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DF8"/>
          </a:solidFill>
          <a:ln>
            <a:solidFill>
              <a:srgbClr val="E8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C030"/>
          </a:solidFill>
          <a:ln>
            <a:solidFill>
              <a:srgbClr val="F0C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10058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29184"/>
            <a:ext cx="117344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METODOLOGIA E PREMISSAS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508760"/>
            <a:ext cx="11521440" cy="749808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636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C030"/>
                </a:solidFill>
                <a:latin typeface="Arial"/>
              </a:defRPr>
            </a:pPr>
            <a:r>
              <a:t>Dados Reais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563624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Arial"/>
              </a:defRPr>
            </a:pPr>
            <a:r>
              <a:t>Janeiro 2026: R$ 524,524.35  |  Fevereiro 2026 (parcial ate 16/02): R$ 249,645.71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404872"/>
            <a:ext cx="11521440" cy="749808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597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C030"/>
                </a:solidFill>
                <a:latin typeface="Arial"/>
              </a:defRPr>
            </a:pPr>
            <a:r>
              <a:t>Media Diaria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59736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Arial"/>
              </a:defRPr>
            </a:pPr>
            <a:r>
              <a:t>R$ 18,061.83/dia  (media de Jan e Fev)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300984"/>
            <a:ext cx="11521440" cy="749808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558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C030"/>
                </a:solidFill>
                <a:latin typeface="Arial"/>
              </a:defRPr>
            </a:pPr>
            <a:r>
              <a:t>Projecao Mensal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355848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Arial"/>
              </a:defRPr>
            </a:pPr>
            <a:r>
              <a:t>Media diaria base x Dias do mes x Fator sazonal do 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4197096"/>
            <a:ext cx="11521440" cy="749808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5195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C030"/>
                </a:solidFill>
                <a:latin typeface="Arial"/>
              </a:defRPr>
            </a:pPr>
            <a:r>
              <a:t>Fatores Sazonais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251959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Arial"/>
              </a:defRPr>
            </a:pPr>
            <a:r>
              <a:t>Mar/Abr/Jun/Jul: -1 a -4%  |  Mai/Set/Out: +2 a +5%  |  Nov/Dez: +8 a +10%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093208"/>
            <a:ext cx="11521440" cy="749808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1480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C030"/>
                </a:solidFill>
                <a:latin typeface="Arial"/>
              </a:defRPr>
            </a:pPr>
            <a:r>
              <a:t>Revisao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148072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Arial"/>
              </a:defRPr>
            </a:pPr>
            <a:r>
              <a:t>Recomendado atualizar mensalmente conforme novos dados sao realizados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C030"/>
          </a:solidFill>
          <a:ln>
            <a:solidFill>
              <a:srgbClr val="F0C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1097280"/>
          </a:xfrm>
          <a:prstGeom prst="rect">
            <a:avLst/>
          </a:prstGeom>
          <a:solidFill>
            <a:srgbClr val="3A5BA0"/>
          </a:solidFill>
          <a:ln>
            <a:solidFill>
              <a:srgbClr val="3A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6430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ADCFC"/>
                </a:solidFill>
                <a:latin typeface="Arial"/>
              </a:defRPr>
            </a:pPr>
            <a:r>
              <a:t>Projecao Total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116430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C030"/>
                </a:solidFill>
                <a:latin typeface="Arial"/>
              </a:defRPr>
            </a:pPr>
            <a:r>
              <a:t>R$ 6,694,442.70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063240"/>
            <a:ext cx="116430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rial"/>
              </a:defRPr>
            </a:pPr>
            <a:r>
              <a:t>Media Mensal: R$ 557,870.23   |   Media Diaria: R$ 18,061.83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0"/>
            <a:ext cx="116430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Arial"/>
              </a:defRPr>
            </a:pPr>
            <a:r>
              <a:t>Os valores projetados sao estimativas baseadas no historico de Jan-Fev/2026 com ajuste sazonal.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Arial"/>
              </a:defRPr>
            </a:pPr>
            <a:r>
              <a:t>Relatorio gerado em 19/02/2026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